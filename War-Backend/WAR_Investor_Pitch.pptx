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- Puntos clave:
- WAR es un MMORPG backend-first con arquitectura .NET 8, diseñado para escalabilidad.
- El nombre 'WAR' comunica acción, competencia y ambición.
- Transición: 'Antes de hablar de lo que WAR ofrece, hablemos del problema que resuelve...'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- Puntos clave:
- Enfatizar la frustración real de los jugadores con los MMORPGs actuales.
- El 72% es un dato ilustrativo — reemplazar con estadísticas reales.
- Los tres problemas principales: P2W, grind excesivo, falta de identidad.
- Transición: 'WAR nace precisamente para resolver estos tres problemas...'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- Puntos clave:
- WAR tiene un sistema de Puntos de Poder contextual: 10 ATK en Sorcerer no equivale a 10 ATK en Bruiser.
- 4 clases, cada una con 13 habilidades (12 + 1 ultimate), cada habilidad con 10 niveles de ascensión.
- Diseño anti-P2W por arquitectura, no por promesa de marketing.
- Transición: 'Veamos las clases que hacen único a WAR...'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CLASES - Datos del código:
- 4 clases con curvas de crecimiento completamente diferenciadas.
- Sorcerer: 14 ATK mágico/nivel, 42 HP/nivel — Glass cannon a distancia.
- Juramentada: 10 ATK mágico + 8 ATK físico/nivel, 52 HP/nivel — Híbrido con healing.
- Lancero: 13 ATK físico/nivel, 0.012 penetración def/nivel — DPS físico preciso.
- Bruiser: 68 HP/nivel, 5 DEF/nivel, 4 MR/nivel — Tanque puro.
- Cada clase tiene 13 habilidades (12 + ultimate) con 10 niveles de ascensión.
- Transición: 'Este balance no es casual. Veamos cómo el sistema de PP lo garantiza...'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COMBATE Y BALANCE - Datos del código:
- 92 stats totales: 5 recursos, 10 ofensivos, 4 defensivos, 4 recuperación, 5 progresión, 9 aplicación estados, 9 evasión estados, 10 incremento daño, 10 reducción daño, 1 utilidad.
- Sistema de PP contextual: cada stat se pondera según la clase.
- Ejemplo real: +10 ATK Mágico = 144 PP para Sorcerer (peso 1.60) vs 49.5 PP para Bruiser (peso 0.55).
- Valores unitarios: MaxHP=4.0, ATK=9.0, CritChance=55.0, Defensa=120.0 (con curva de mitigación).
- Pipeline de combate de 10 fases: Magnitud → Costo → Hit Check → Crit Check → Cálculo → Mitigación → Modificadores → Condiciones → Interacciones → Proyección.
- Transición: 'El balance se mantiene a través de múltiples capas de progresión...'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PROFUNDIDAD DE PROGRESIÓN - Datos del código:
- Nivel máximo: 80. Base XP: 1,000. Multiplicador compuesto: 1.20x/nivel. Bonus década: 1.50x.
- 7 slots de equipo: Casco, Pechera, Vestido, Brazaletes, Collar, Aretes, Arma.
- Espíritus: entidades con stats propias + pasivas únicas según nivel de cultivación.
- Cultivación: sistema de mejora espiritual interna (planificado).
- PP: indicador global que pondera todo según clase — no existe un 'mejor equipo' universal.
- Transición: 'Hablemos más en detalle del sistema de espíritus...'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ESPÍRITUS - Notas:
- Los espíritus están planificados pero la arquitectura ya soporta stats adicionales y pasivas.
- El sistema de cultivación determina qué nivel de pasiva del espíritu se activa.
- Esto crea decisiones estratégicas: ¿cuál espíritu complementa mejor mi build?
- Los ejemplos son ilustrativos, pero representan la visión del diseño.
- Transición: 'Los espíritus y builds se prueban en la comunidad — veamos el aspecto social...'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EXPERIENCIA SOCIAL - Notas:
- La progresión social es: Solo → Clan → Guerras masivas.
- El sistema de clanes y guerras está planificado pero es core al diseño del juego.
- Enfatizar que WAR es un juego de comunidad, no solo de stats.
- Transición: 'La comunidad necesita un modelo de negocio que la respete...'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NEGOCIO - Notas:
- No hay sistema de monetización implementado aún — el modelo se basa en la filosofía anti-P2W del diseño.
- Framework propuesto: Cosméticos, Battle Pass, Expansiones.
- La arquitectura de PP contextuales hace imposible 'comprar' ventaja: +10 ATK vale diferente para cada clase.
- Enfatizar: la monetización justa genera retención a largo plazo y LTV (lifetime value) superior.
- Transición: 'Veamos dónde estamos en el desarrollo...'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- Datos del código:
- FASE 1 (Completada): Combat pipeline completo, 4 clases con stats, 13 skills Sorcerer + Ultimate, sistema PP, 80 niveles, admin panel.
- FASE 2 (En desarrollo): Skills de las 3 clases restantes, equipamiento, espíritus, cultivación, balance.
- FASE 3 (Planificada): Clanes, PvP, dungeons, crafting, networking, auth.
- La base técnica es sólida y extensible.
- Transición: 'La base técnica detrás de todo esto es robusta...'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TÉCNICO - Datos del código:
- .NET 8.0+ con C# — framework enterprise, alto rendimiento.
- Arquitectura limpia: War.Core (dominio), War.Api (endpoints), War.Infrastructure (DB).
- Entity Framework Core con migraciones.
- Patrones de diseño: Service, Provider, Catalog, Builder, Strategy.
- Servicios clave: CombatEventResolver, PowerScoreCalculator, CharacterFinalStatsBuilder, SkillRuntimeCatalogProvider.
- 92 stats, 13 skills/clase, 10 ascensiones, 80 niveles, 10 fases de combate, 4 clases.
- Transición: 'Con esta base técnica, veamos la oportunidad de mercado...'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OPORTUNIDAD DE MERCADO - Notas:
- Los números son placeholders — el usuario DEBE actualizarlos con datos de mercado reales.
- Fuentes sugeridas: Newzoo, SuperData, Statista para datos del mercado MMORPG.
- Posicionamiento: sistema de PP contextual es genuinamente único en el mercado.
- Competidores relevantes: Lost Ark, WoW, FFXIV, Throne &amp; Liberty — todos con modelos P2W.
- Transición: 'La oportunidad es clara. Ahora es el momento de unirse...'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- Puntos clave:
- Resumir los 3 diferenciadores: Balance real, Profundidad, Arquitectura sólida.
- Actualizar la información de contacto antes de presentar.
- Frase de cierre: 'El campo de batalla está listo. La estrategia es tuya.'
- Estar preparado para preguntas sobre: timeline de lanzamiento, inversión necesaria, equipo, métricas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27432" cy="5143500"/>
          </a:xfrm>
          <a:prstGeom prst="rect">
            <a:avLst/>
          </a:prstGeom>
          <a:solidFill>
            <a:srgbClr val="C9A84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2100000">
            <a:off x="7772400" y="-27432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 rot="-2100000">
            <a:off x="8229600" y="-91440"/>
            <a:ext cx="1371600" cy="36576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 DE NUEVA GENERACION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a la busqueda del MMORPG definitivo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8288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| 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731520"/>
            <a:ext cx="4572000" cy="292608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731520"/>
            <a:ext cx="4572000" cy="29260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 Key Art / Logo del juego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320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Solo para uso de inversores autorizados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MERCADO MMORPG ESTA ROTO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46888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4688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417320"/>
            <a:ext cx="548640" cy="548640"/>
          </a:xfrm>
          <a:prstGeom prst="ellipse">
            <a:avLst/>
          </a:prstGeom>
          <a:solidFill>
            <a:srgbClr val="3D0A0F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021" y="15380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Pay-to-Win Agresivo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juegos exitosos terminan priorizando a quienes mas pagan, alienando a la mayoria de jugadores.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46888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24688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417320"/>
            <a:ext cx="548640" cy="548640"/>
          </a:xfrm>
          <a:prstGeom prst="ellipse">
            <a:avLst/>
          </a:prstGeom>
          <a:solidFill>
            <a:srgbClr val="3D0A0F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1538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Progresion Tediosa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horas de grind sin recompensa significativa. El jugador se agota antes de disfrutar.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188720"/>
            <a:ext cx="246888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188720"/>
            <a:ext cx="24688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1417320"/>
            <a:ext cx="548640" cy="548640"/>
          </a:xfrm>
          <a:prstGeom prst="ellipse">
            <a:avLst/>
          </a:prstGeom>
          <a:solidFill>
            <a:srgbClr val="3D0A0F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15380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Vida Propia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2560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MMORPGs genericos sin identidad, que se copian entre si y mueren en meses.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046720" y="1188720"/>
            <a:ext cx="36576" cy="2560320"/>
          </a:xfrm>
          <a:prstGeom prst="rect">
            <a:avLst/>
          </a:prstGeom>
          <a:solidFill>
            <a:srgbClr val="E63946">
              <a:alpha val="6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13816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4200" dirty="0"/>
          </a:p>
        </p:txBody>
      </p:sp>
      <p:sp>
        <p:nvSpPr>
          <p:cNvPr id="25" name="Text 20"/>
          <p:cNvSpPr/>
          <p:nvPr/>
        </p:nvSpPr>
        <p:spPr>
          <a:xfrm>
            <a:off x="8092440" y="228600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jugadores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abandonan un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 en los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57200" y="47777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*Dato ilustrativo — actualizar con estudio de mercado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WAR: DONDE LA ESTRATEGIA SUPERA A LA BILLETERA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61B22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2993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Progresion Justa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444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 de Poder balanceado por clase. Cada punto importa de forma diferente segun tu clase, eliminando la ventaja por pago.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61B22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248808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 Estrategica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" y="26334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Espiritus, cultivacion, ascension de habilidades y builds unicos. 13 habilidades por clase con 10 niveles de ascension cada una.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161B22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36768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Comunidad Global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97280" y="38221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Guerras de clanes a escala mundial. Clanes, alianzas y combate PvP masivo donde la coordinacion supera al poder individual.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0" y="1005840"/>
            <a:ext cx="411480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572000" y="1005840"/>
            <a:ext cx="4114800" cy="32004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 Screenshot del juego en accion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 rot="-900000">
            <a:off x="-457200" y="5006340"/>
            <a:ext cx="1828800" cy="54864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CAMINOS, INFINITAS POSIBILIDADES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80160"/>
            <a:ext cx="14630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SORCERER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SORCERER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70048"/>
            <a:ext cx="1005840" cy="201168"/>
          </a:xfrm>
          <a:prstGeom prst="rect">
            <a:avLst/>
          </a:prstGeom>
          <a:solidFill>
            <a:srgbClr val="4CC9F0">
              <a:alpha val="20000"/>
            </a:srgbClr>
          </a:solidFill>
          <a:ln w="635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 Magico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elemental con dominio sobre fuego, rayo y hielo. 14 ATK magico/nivel. Fragil pero devastador a distancia (14m+).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 Magico: 14/lvl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38679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42/lvl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24328" y="1097280"/>
            <a:ext cx="192024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24328" y="1097280"/>
            <a:ext cx="19202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2928" y="1280160"/>
            <a:ext cx="14630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52928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JURAMENTADA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15768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JURAMENTADA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81528" y="2670048"/>
            <a:ext cx="1005840" cy="201168"/>
          </a:xfrm>
          <a:prstGeom prst="rect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1528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Hibrido / Soporte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34056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Caballera sagrada con balance entre magia y combate fisico. Maxima efectividad de curacion (0.025/lvl).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15768" y="37033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 Magico: 10/lvl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15768" y="38679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52/lvl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91456" y="1097280"/>
            <a:ext cx="192024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1097280"/>
            <a:ext cx="19202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0056" y="1280160"/>
            <a:ext cx="14630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0056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2896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LANCERO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48656" y="2670048"/>
            <a:ext cx="1005840" cy="201168"/>
          </a:xfrm>
          <a:prstGeom prst="rect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8656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 Fisico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01184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Combatiente de precision con la penetracion de armadura mas alta (0.012/lvl). Maximo ataque fisico y precision.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82896" y="37033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 Fisico: 13/lvl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82896" y="38679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56/lvl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58584" y="1097280"/>
            <a:ext cx="1920240" cy="3017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58584" y="109728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Shape 35"/>
          <p:cNvSpPr/>
          <p:nvPr/>
        </p:nvSpPr>
        <p:spPr>
          <a:xfrm>
            <a:off x="7187184" y="1280160"/>
            <a:ext cx="146304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87184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BRUISER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0024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BRUISER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15784" y="2670048"/>
            <a:ext cx="1005840" cy="201168"/>
          </a:xfrm>
          <a:prstGeom prst="rect">
            <a:avLst/>
          </a:prstGeom>
          <a:solidFill>
            <a:srgbClr val="E63946">
              <a:alpha val="20000"/>
            </a:srgbClr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5784" y="2670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68312" y="297180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defensivo con mayor HP (68/lvl), defensa (5/lvl) y resistencia magica (4/lvl). Imbatible en primera linea.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50024" y="37033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Defensa: 5/lvl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50024" y="38679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68/lvl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COMBATE BALANCEADO POR DISENO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PUNTOS DE PODER (PP)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 = Stat x UnitValue x ClassWeight x CategoryAdj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estadistica tiene un valor unitario (ej: ATK = 9.0, HP = 4.0) que se multiplica por un peso de clase. Un Sorcerer valora su ATK Magico hasta 1.60x, mientras que un Bruiser lo valora a 0.55x.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92024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192024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SORCERER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ATK Magico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144 PP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5021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(9.0 x 1.60)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=/=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017520" y="2651760"/>
            <a:ext cx="192024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26517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2788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BRUISER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035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ATK Magico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49.5 PP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17520" y="35021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(9.0 x 0.55)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CATEGORIAS DE STATS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0" y="1463040"/>
            <a:ext cx="73152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463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Ofensivo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664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ATK, Crit, Precision, Penetracion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029968"/>
            <a:ext cx="73152" cy="45720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0299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Defensivo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2311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DEF, MR, Evasion, Tenacidad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2596896"/>
            <a:ext cx="73152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2596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Recuperacion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27980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 HP/Mana, Efectividad Cura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3163824"/>
            <a:ext cx="73152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1638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Utilidad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3649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Rango, EXP, Drop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3730752"/>
            <a:ext cx="73152" cy="4572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Aplicacion/Evasion de 9 condiciones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1376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7223760" y="46405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totales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MULTIPLES CAPAS DE CRECIMIENTO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4187952"/>
            <a:ext cx="3840480" cy="64008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4187952"/>
            <a:ext cx="3840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PODER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global contextual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438144"/>
            <a:ext cx="3291840" cy="640080"/>
          </a:xfrm>
          <a:prstGeom prst="rect">
            <a:avLst/>
          </a:prstGeom>
          <a:solidFill>
            <a:srgbClr val="4CC9F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438144"/>
            <a:ext cx="3291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CULTIVACION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espiritual interna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2688336"/>
            <a:ext cx="2743200" cy="640080"/>
          </a:xfrm>
          <a:prstGeom prst="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2688336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pasivas unicas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1938528"/>
            <a:ext cx="2194560" cy="64008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1938528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slots de equipo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1188720"/>
            <a:ext cx="164592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niveles, formula x1.20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54864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Niveles de Progresion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353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1,000 XP. Multiplicador: x1.20 por nivel. Bonus de decada: +50% en niveles 10, 20, 30... 70.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011680"/>
            <a:ext cx="54864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Slots de Equipamiento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267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Casco, Pechera, Vestido, Brazaletes, Collar, Aretes y Arma. Cada pieza afecta las stats del personaje.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92608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926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Espiritus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182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Companeros con estadisticas propias y pasivas unicas que se desbloquean con niveles de cultivacion.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54864" cy="64008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Cultivacion Espiritual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096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interna que potencia al personaje y desbloquea niveles de pasivas de los espiritus.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ESPIRITUS: TU VENTAJA ESTRATEGICA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Espiritus son entidades que acompanan a tu personaje, otorgando estadisticas adicionales y pasivas unicas. Sus habilidades pasivas se desbloquean y potencian segun tu nivel de Cultivacion, creando una capa de progresion profundamente estrategica.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65960"/>
            <a:ext cx="21945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 de Llamas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Espiritu de Llamas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044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+ATK Magico, +Heat Apply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Pasiva: Aumenta dano contra objetivos con Heat a mayor cultivacion.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25603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783080"/>
            <a:ext cx="256032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 del Trueno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Espiritu del Trueno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044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+ATK Magico, +Electrified Apply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Pasiva: Reduce cooldown de habilidades de rayo por cada estado Electrified activo.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783080"/>
            <a:ext cx="25603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783080"/>
            <a:ext cx="2560320" cy="54864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965960"/>
            <a:ext cx="2194560" cy="73152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Espiritu de Escarcha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CE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Espiritu de Escarcha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044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Hielo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364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+DEF, +Cold Apply, +Freeze Apply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Pasiva: Incrementa duracion de Freeze segun cultivacion.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*Espiritus ilustrativos — sistema en desarrollo activo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JUGADOR SOLITARIO AL LIDER DE GUERRA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73152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645920"/>
            <a:ext cx="502920" cy="502920"/>
          </a:xfrm>
          <a:prstGeom prst="ellipse">
            <a:avLst/>
          </a:prstGeom>
          <a:solidFill>
            <a:srgbClr val="4CC9F0"/>
          </a:solidFill>
          <a:ln/>
          <a:effectLst>
            <a:outerShdw sx="100000" sy="100000" kx="0" ky="0" algn="bl" rotWithShape="0" blurRad="127000" dist="38100" dir="8100000">
              <a:srgbClr val="4CC9F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AVENTURA SOLO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Explora, sube de nivel, domina tu clase y perfecciona tus habilidades.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502920" cy="50292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127000" dist="38100" dir="8100000">
              <a:srgbClr val="C9A84C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UNETE A UN CLAN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companeros, comparte estrategias y fortalecete en grupo.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1645920"/>
            <a:ext cx="502920" cy="502920"/>
          </a:xfrm>
          <a:prstGeom prst="ellipse">
            <a:avLst/>
          </a:prstGeom>
          <a:solidFill>
            <a:srgbClr val="E63946"/>
          </a:solidFill>
          <a:ln/>
          <a:effectLst>
            <a:outerShdw sx="100000" sy="100000" kx="0" ky="0" algn="bl" rotWithShape="0" blurRad="127000" dist="38100" dir="8100000">
              <a:srgbClr val="E63946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GUERRAS MASIVAS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ejercitos en batallas PvP a gran escala entre clanes rivales.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5603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Clanes Globales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de cualquier parte del mundo pueden unirse y competir juntos.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5603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310896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Alianzas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clanes pueden formar alianzas estrategicas para guerras a gran escala.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3108960"/>
            <a:ext cx="25603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10896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Recompensas de Guerra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victorias en guerras de clanes otorgan recursos exclusivos para el clan.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RENTABLE SIN SER INJUSTO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solidFill>
            <a:srgbClr val="2DD4B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3840480" cy="411480"/>
          </a:xfrm>
          <a:prstGeom prst="rect">
            <a:avLst/>
          </a:prstGeom>
          <a:solidFill>
            <a:srgbClr val="E6394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MMORPG TIPICO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36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Cosmeticos sin ventaja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69164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0136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P2W en tienda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19456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042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Pass con recompensas cosmeticas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17720" y="219456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0428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49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Gacha con probabilidades ocultas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07208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Expansiones con contenido real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617720" y="269748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80720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DLCs fragmentados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310128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440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Progresion por habilidad del jugador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617720" y="320040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310128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07492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Progresion por gasto monetario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57200" y="370332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813048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1440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transparente</a:t>
            </a:r>
            <a:endParaRPr lang="en-US" sz="1050" dirty="0"/>
          </a:p>
        </p:txBody>
      </p:sp>
      <p:sp>
        <p:nvSpPr>
          <p:cNvPr id="36" name="Shape 25"/>
          <p:cNvSpPr/>
          <p:nvPr/>
        </p:nvSpPr>
        <p:spPr>
          <a:xfrm>
            <a:off x="4617720" y="370332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813048"/>
            <a:ext cx="228600" cy="2286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0749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 premium confusas</a:t>
            </a:r>
            <a:endParaRPr lang="en-US" sz="1050" dirty="0"/>
          </a:p>
        </p:txBody>
      </p:sp>
      <p:sp>
        <p:nvSpPr>
          <p:cNvPr id="39" name="Text 27"/>
          <p:cNvSpPr/>
          <p:nvPr/>
        </p:nvSpPr>
        <p:spPr>
          <a:xfrm>
            <a:off x="457200" y="45034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diseno anti-P2W esta integrado en la arquitectura: todas las clases y habilidades son accesibles para todos. Los Puntos de Poder contextuales hacen imposible 'comprar' una ventaja universal.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DONDE ESTAMOS Y HACIA DONDE VAMOS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604772" y="1280160"/>
            <a:ext cx="320040" cy="32004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101600" dist="38100" dir="8100000">
              <a:srgbClr val="2DD4BF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11580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0604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2606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1: FUNDACION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combate (10 fases)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clases diferenciadas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skills Sorcerer + Ultimate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92 stats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Poder contextuales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niveles de progresion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combos (6 stages)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 de skills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demo interactivo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5132" y="1280160"/>
            <a:ext cx="320040" cy="32004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101600" dist="38100" dir="8100000">
              <a:srgbClr val="C9A84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91940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260604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96596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2: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Juramentada + Lancero + Bruiser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Equipamiento (7 slots)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Espiritus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Cultivacion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fino de curves/tuning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AoE y multi-target real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completa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65492" y="1280160"/>
            <a:ext cx="320040" cy="320040"/>
          </a:xfrm>
          <a:prstGeom prst="ellipse">
            <a:avLst/>
          </a:prstGeom>
          <a:solidFill>
            <a:srgbClr val="8B949E"/>
          </a:solidFill>
          <a:ln/>
          <a:effectLst>
            <a:outerShdw sx="100000" sy="100000" kx="0" ky="0" algn="bl" rotWithShape="0" blurRad="101600" dist="38100" dir="8100000">
              <a:srgbClr val="8B949E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72300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60604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965960"/>
            <a:ext cx="260604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3: LANZAMIENTO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Clanes y guerras masivas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matchmaking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Dungeons y bosses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y mercado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multiplayer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de cuentas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clases y contenido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STACK TECNOLOGICO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.NET 8 / C#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enterprise de alto rendimiento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38404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con migraciones y persistencia robusta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840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3840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bien definidos y documentados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84048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38404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API / Infrastructure separados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9728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del sistema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09728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097280"/>
            <a:ext cx="182880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94944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por clase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28600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286000"/>
            <a:ext cx="18288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93776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ascension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228600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2286000"/>
            <a:ext cx="18288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94944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personaje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47472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47472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493776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combat pipeline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3474720"/>
            <a:ext cx="1828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3474720"/>
            <a:ext cx="182880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694944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jugables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Patrones: Service, Provider, Catalog, Builder, Strategy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MERCADO ESPERANDO DISRUPCION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$XX 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Tamano del mercado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MMORPG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[Actualizar con dato real]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060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88720"/>
            <a:ext cx="260604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(CAGR)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[Actualizar con dato real]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060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0604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XXM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activos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[Actualizar con dato real]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POSICIONAMIENTO DE WAR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Diferenciacion Clara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PP contextual unico en el mercado. No existe otro MMORPG con balance por clase tan granular.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54864" cy="7315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Segmento Desatendido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730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hardcore que buscan profundidad estrategica sin P2W. Mercado creciente post-Lost Ark, Throne &amp; Liberty.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474720"/>
            <a:ext cx="54864" cy="7315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Escalabilidad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730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.NET 8 enterprise-grade, diseñada para escalar a millones de usuarios concurrentes.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UNETE A LA GUERRA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PP contextual que elimina el P2W por diseno, no por promesa.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 Unica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clases, 52+ habilidades, 10 ascensiones, espiritus y cultivacion.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Solida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8, clean architecture, pipeline de combate de 10 fases.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1828800"/>
            <a:ext cx="5486400" cy="1645920"/>
          </a:xfrm>
          <a:prstGeom prst="rect">
            <a:avLst/>
          </a:prstGeom>
          <a:solidFill>
            <a:srgbClr val="1C2333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1828800"/>
            <a:ext cx="5486400" cy="1645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IMAGEN: Arte final epico del juego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749040"/>
            <a:ext cx="640080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886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[email@ejemplo.com]  |  [www.sitio.com]  |  [+XX XXX XXX XXXX]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5948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campo de batalla esta listo. La estrategia es tuya."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 - MMORPG Investor Pitch</dc:title>
  <dc:subject>PptxGenJS Presentation</dc:subject>
  <dc:creator>WAR Game Studio</dc:creator>
  <cp:lastModifiedBy>WAR Game Studio</cp:lastModifiedBy>
  <cp:revision>1</cp:revision>
  <dcterms:created xsi:type="dcterms:W3CDTF">2026-03-19T04:02:54Z</dcterms:created>
  <dcterms:modified xsi:type="dcterms:W3CDTF">2026-03-19T04:02:54Z</dcterms:modified>
</cp:coreProperties>
</file>